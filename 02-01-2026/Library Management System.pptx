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ED3B-381C-EBC2-6C2F-E8A70DAC0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DA020-B3AA-5EB2-C7A0-E90B6B2B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8D130-DD4E-3B3C-169A-26B36764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C07CE-741F-DC7D-CBD5-1641E3BA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841E0-2B48-D3AA-B596-F28FD115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9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1743-5089-23D4-A4FA-A676BD49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C462-A5EA-6F5E-77A2-F085BE3F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83ADC-C1A0-760B-91DA-2AD152DD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84F0F-ABE5-EC04-B753-EDAA544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EE7EC-A340-46EA-AC37-7137ED58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93EB-80FB-131A-8D91-BA3624EC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7F617-09AC-8898-CD46-48A9361C5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467DC-63E6-BBBA-F301-0FD78ED0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6AFC-8EB1-6B05-7F13-69285D95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38690-6AAA-3E73-EB53-DCD3C608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30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094D-5A1E-827E-842E-47C5CAF9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72C3-0173-3B53-DC42-D79EB0963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B1CFB-C63B-534C-F8C4-748F08B2B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0517B-C3FA-A1FD-3B4C-48B6B476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7B33A-33CC-D407-7B65-DA961DED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0FB55-CCE2-8BFB-BB3B-465996DC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79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0643-E578-76C6-EEC9-957EB56D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80F77-49CC-CA8E-80F4-8D925072C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A4E24-10C4-2AD1-A813-4483AF52F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0ABB3-D6E6-C693-A2D0-9ADC182A6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3587E-C67D-78D2-C0FA-1A633C859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2EFC-679C-42E2-1FA8-0CFB2841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70ECF-165D-7F47-15AC-9D9A31C5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F8159-1017-52E8-9CFD-BDC71362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2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3A95-6630-548E-77E3-19ED6511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462B6-BC94-40C1-42A2-31ED13F8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6F1FE-5F46-3FFA-4DBF-183C46DB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500F9-3318-6D05-D094-3E15A036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8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3204D-3970-FCB4-3388-DB4E50E0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0D838-E802-1815-2C07-4FB9118A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264E5-B6C6-0D56-D839-9AC8290E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83411-94C1-BE2F-37C5-FCD76441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6A8C-580F-FC3C-4545-35591D0E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6CB63-05D3-D7EA-5FB6-D77E03068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8AB9B-435D-E2C8-A09D-8C1C0B0B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4B4CC-74D9-D2C5-F161-D3CF0B59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E8EAC-8830-0BA0-EA98-2D609585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3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8AC3-E41C-6DDF-24F6-AE5FFD6F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9BDD93-FC08-2F05-6C17-B2F94583B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7F0BF-CADF-AC2E-FD57-067327059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4A611-F002-D790-9B5A-277ADA8E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8AA66-FF39-B364-2426-41F5FB95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2E946-B573-3188-A7C1-4F03D5D3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4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704F-0CD5-7A9A-82E2-D5110E64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F80BE-B441-5B71-F85F-540C61563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B863A-06D8-43A0-5A3D-C69435F3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8F3CB-9E0B-0B2C-8809-43CB7EF2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B40B4-D067-9F60-4D67-C044040D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86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D1755-E084-796D-9E99-6BE882008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79C3C-BA0F-7A9D-1278-4968B6E3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78CE-2EEA-3C1C-C49D-E87DD4C3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137FF-48F9-8765-B855-43F20A3B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1770B-E5E5-D112-1FE8-F2602317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9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0AA47-9851-ED2F-8982-1FC75202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EB154-B0EA-98B3-ADAB-4D76C605D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0D9C5-F385-427B-A151-DE5CCBB8F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A4D59-0653-4FCD-9947-594FE64A83E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E502-7831-DE1D-6341-EEE0147AC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7A751-0A50-4C54-DEC2-6A9927BBC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F2128-8EDF-47B1-BABF-64017756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7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1C0F-F0FD-0DBE-E082-9C462EA23F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Management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9EEDD-1D8E-9794-98FF-4F120F45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(Effectiveness Testing)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83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6F11-5360-349C-2429-56A03F72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4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02984D-EB5A-6755-987E-7D4AC16D1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465320"/>
              </p:ext>
            </p:extLst>
          </p:nvPr>
        </p:nvGraphicFramePr>
        <p:xfrm>
          <a:off x="838200" y="1861184"/>
          <a:ext cx="10515600" cy="3220483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98798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0503990"/>
                    </a:ext>
                  </a:extLst>
                </a:gridCol>
              </a:tblGrid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 they did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8741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Chava Kethan-55938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Requirements, </a:t>
                      </a:r>
                      <a:r>
                        <a:rPr lang="en-US" dirty="0" err="1"/>
                        <a:t>Executtion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180357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Snigdha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Functional Requirements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825151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Abinav Singh Rajput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</a:t>
                      </a:r>
                      <a:r>
                        <a:rPr lang="en-US" dirty="0" err="1"/>
                        <a:t>Functinal</a:t>
                      </a:r>
                      <a:r>
                        <a:rPr lang="en-US" dirty="0"/>
                        <a:t> requirements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787512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Utkarsh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Coverage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91702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Aditya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based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34750"/>
                  </a:ext>
                </a:extLst>
              </a:tr>
              <a:tr h="4600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Praveen </a:t>
                      </a:r>
                      <a:r>
                        <a:rPr lang="en-US" dirty="0" err="1"/>
                        <a:t>kumar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planning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821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85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6E6-736E-4804-59D5-44AFFB66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Effectiveness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5236-2F76-B81E-FADF-1C5A846B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Effectiveness of testing means how well testing finds defects and ensures the system works as expected before it is delivered to users.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1)Comprehensive Coverage</a:t>
            </a:r>
          </a:p>
          <a:p>
            <a:r>
              <a:rPr lang="en-US" sz="1800" b="1" dirty="0"/>
              <a:t>Effectiveness comes from testing everything that matters</a:t>
            </a:r>
            <a:endParaRPr lang="en-US" sz="1800" dirty="0"/>
          </a:p>
          <a:p>
            <a:r>
              <a:rPr lang="en-US" sz="1800" dirty="0"/>
              <a:t>Covers </a:t>
            </a:r>
            <a:r>
              <a:rPr lang="en-US" sz="1800" b="1" dirty="0"/>
              <a:t>functional</a:t>
            </a:r>
            <a:r>
              <a:rPr lang="en-US" sz="1800" dirty="0"/>
              <a:t> (what the system does) and </a:t>
            </a:r>
            <a:r>
              <a:rPr lang="en-US" sz="1800" b="1" dirty="0"/>
              <a:t>non-functional</a:t>
            </a:r>
            <a:r>
              <a:rPr lang="en-US" sz="1800" dirty="0"/>
              <a:t> (performance, security, usability) requirements</a:t>
            </a:r>
          </a:p>
          <a:p>
            <a:r>
              <a:rPr lang="en-US" sz="1800" dirty="0"/>
              <a:t>Ensures no critical feature is missed</a:t>
            </a:r>
          </a:p>
          <a:p>
            <a:r>
              <a:rPr lang="en-US" sz="1800" dirty="0"/>
              <a:t>Reduces chances of defects reaching production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37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03339-9697-A792-6BA4-870F6D89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95" y="344774"/>
            <a:ext cx="10889105" cy="5832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 2)Risk-Based Approach</a:t>
            </a:r>
          </a:p>
          <a:p>
            <a:pPr marL="0" indent="0">
              <a:buNone/>
            </a:pPr>
            <a:r>
              <a:rPr lang="en-US" sz="2200" b="1" dirty="0"/>
              <a:t>Effectiveness comes from testing what is most important first</a:t>
            </a:r>
            <a:endParaRPr lang="en-US" sz="2200" dirty="0"/>
          </a:p>
          <a:p>
            <a:r>
              <a:rPr lang="en-US" sz="2200" dirty="0"/>
              <a:t>Prioritizes high-risk and high-impact areas</a:t>
            </a:r>
          </a:p>
          <a:p>
            <a:r>
              <a:rPr lang="en-US" sz="2200" dirty="0"/>
              <a:t>Focuses on critical business functions</a:t>
            </a:r>
          </a:p>
          <a:p>
            <a:r>
              <a:rPr lang="en-US" sz="2200" dirty="0"/>
              <a:t>Saves time and resources</a:t>
            </a:r>
          </a:p>
          <a:p>
            <a:pPr marL="0" indent="0">
              <a:buNone/>
            </a:pP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3)Continuous Improvement</a:t>
            </a:r>
          </a:p>
          <a:p>
            <a:r>
              <a:rPr lang="en-US" sz="2200" b="1" dirty="0"/>
              <a:t>Effectiveness comes from learning and improving</a:t>
            </a:r>
            <a:endParaRPr lang="en-US" sz="2200" dirty="0"/>
          </a:p>
          <a:p>
            <a:r>
              <a:rPr lang="en-US" sz="2200" dirty="0"/>
              <a:t>Regularly reviews test results and defects</a:t>
            </a:r>
          </a:p>
          <a:p>
            <a:r>
              <a:rPr lang="en-US" sz="2200" dirty="0"/>
              <a:t>Improves test cases based on feedback</a:t>
            </a:r>
          </a:p>
          <a:p>
            <a:r>
              <a:rPr lang="en-US" sz="2200" dirty="0"/>
              <a:t>Adapts testing strategy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9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7DD3-6B1B-12A9-100E-21E2E727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CFA0-8FEA-5F97-306A-84C72C31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Requirements define what the Library Management System must do and how it should operate.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requirements of the Library Management System focus on:</a:t>
            </a:r>
          </a:p>
          <a:p>
            <a:r>
              <a:rPr lang="en-US" sz="2000" dirty="0"/>
              <a:t>Managing books and their availability</a:t>
            </a:r>
          </a:p>
          <a:p>
            <a:r>
              <a:rPr lang="en-US" sz="2000" dirty="0"/>
              <a:t>Handling users such as librarians and members</a:t>
            </a:r>
          </a:p>
          <a:p>
            <a:r>
              <a:rPr lang="en-US" sz="2000" dirty="0"/>
              <a:t>Issuing and returning books using valid ID cards</a:t>
            </a:r>
          </a:p>
          <a:p>
            <a:r>
              <a:rPr lang="en-US" sz="2000" dirty="0"/>
              <a:t>Maintaining price and fine details</a:t>
            </a:r>
          </a:p>
          <a:p>
            <a:r>
              <a:rPr lang="en-US" sz="2000" dirty="0"/>
              <a:t>Ensuring secure and efficient system operation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30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D793F-3589-D301-35E1-6F39AC01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Functional Requirements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9F1BC4-542C-3EBB-9CA7-5FCE514CE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605040"/>
              </p:ext>
            </p:extLst>
          </p:nvPr>
        </p:nvGraphicFramePr>
        <p:xfrm>
          <a:off x="838200" y="2065738"/>
          <a:ext cx="10515601" cy="4078591"/>
        </p:xfrm>
        <a:graphic>
          <a:graphicData uri="http://schemas.openxmlformats.org/drawingml/2006/table">
            <a:tbl>
              <a:tblPr/>
              <a:tblGrid>
                <a:gridCol w="2081261">
                  <a:extLst>
                    <a:ext uri="{9D8B030D-6E8A-4147-A177-3AD203B41FA5}">
                      <a16:colId xmlns:a16="http://schemas.microsoft.com/office/drawing/2014/main" val="4097902895"/>
                    </a:ext>
                  </a:extLst>
                </a:gridCol>
                <a:gridCol w="3571392">
                  <a:extLst>
                    <a:ext uri="{9D8B030D-6E8A-4147-A177-3AD203B41FA5}">
                      <a16:colId xmlns:a16="http://schemas.microsoft.com/office/drawing/2014/main" val="4267064697"/>
                    </a:ext>
                  </a:extLst>
                </a:gridCol>
                <a:gridCol w="4862948">
                  <a:extLst>
                    <a:ext uri="{9D8B030D-6E8A-4147-A177-3AD203B41FA5}">
                      <a16:colId xmlns:a16="http://schemas.microsoft.com/office/drawing/2014/main" val="1726846773"/>
                    </a:ext>
                  </a:extLst>
                </a:gridCol>
              </a:tblGrid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 ID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Area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Functional Requirement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550615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FR-01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Book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Add, update, delete, and search books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720210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FR-02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Member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Register and manage library members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25179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FR-03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 Card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Validate member ID for book issue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7177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FR-04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Issue/Return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Issue and return books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371622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FR-05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Transaction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Record issue date, due date, and return date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974518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FR-06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Availability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Update book availability status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79288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FR-07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Fine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Calculate fine for late returns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77840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FR-08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Price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Store and manage book price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509687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FR-09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Login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Authenticate users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465650"/>
                  </a:ext>
                </a:extLst>
              </a:tr>
              <a:tr h="37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FR-10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Reports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 issued and overdue book reports</a:t>
                      </a:r>
                    </a:p>
                  </a:txBody>
                  <a:tcPr marL="80682" marR="80682" marT="40342" marB="40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5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12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29862-2577-C89D-090B-F5D8EAB0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NON Functional Requirements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688148-B515-260A-EAE8-7522AC7EE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94904"/>
              </p:ext>
            </p:extLst>
          </p:nvPr>
        </p:nvGraphicFramePr>
        <p:xfrm>
          <a:off x="838200" y="2091030"/>
          <a:ext cx="10515601" cy="4028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6219">
                  <a:extLst>
                    <a:ext uri="{9D8B030D-6E8A-4147-A177-3AD203B41FA5}">
                      <a16:colId xmlns:a16="http://schemas.microsoft.com/office/drawing/2014/main" val="2110345761"/>
                    </a:ext>
                  </a:extLst>
                </a:gridCol>
                <a:gridCol w="3042671">
                  <a:extLst>
                    <a:ext uri="{9D8B030D-6E8A-4147-A177-3AD203B41FA5}">
                      <a16:colId xmlns:a16="http://schemas.microsoft.com/office/drawing/2014/main" val="3971693353"/>
                    </a:ext>
                  </a:extLst>
                </a:gridCol>
                <a:gridCol w="5676711">
                  <a:extLst>
                    <a:ext uri="{9D8B030D-6E8A-4147-A177-3AD203B41FA5}">
                      <a16:colId xmlns:a16="http://schemas.microsoft.com/office/drawing/2014/main" val="1942711524"/>
                    </a:ext>
                  </a:extLst>
                </a:gridCol>
              </a:tblGrid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 ID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Non-Functional Requirement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23514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NFR-01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respond within 2 seconds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741405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NFR-02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Only authorized users can access the system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280110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NFR-03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Reliability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prevent data loss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300143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NFR-04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Availability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be available during library hours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479046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NFR-05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Scalability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support multiple users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7748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NFR-06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Usability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be easy to use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4193"/>
                  </a:ext>
                </a:extLst>
              </a:tr>
              <a:tr h="50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NFR-07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Maintainability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System should be easy to update and maintain</a:t>
                      </a:r>
                    </a:p>
                  </a:txBody>
                  <a:tcPr marL="0" marR="148088" marT="74044" marB="740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231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13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9966-6F41-DC72-2A3E-763A589D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Comprehensive Test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170F-2158-3806-831D-B7AD9703D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What we had Covered in LMS:</a:t>
            </a:r>
            <a:endParaRPr lang="en-US" sz="2000" dirty="0"/>
          </a:p>
          <a:p>
            <a:r>
              <a:rPr lang="en-US" sz="2000" dirty="0"/>
              <a:t>Core functionalities: add, issue, return, and search books</a:t>
            </a:r>
          </a:p>
          <a:p>
            <a:r>
              <a:rPr lang="en-US" sz="2000" dirty="0"/>
              <a:t>Different user roles: student, librarian, admin</a:t>
            </a:r>
          </a:p>
          <a:p>
            <a:r>
              <a:rPr lang="en-US" sz="2000" dirty="0"/>
              <a:t>Valid and invalid inputs for users and books</a:t>
            </a:r>
          </a:p>
          <a:p>
            <a:r>
              <a:rPr lang="en-US" sz="2000" dirty="0"/>
              <a:t>Boundary conditions: maximum book limit, late return fines</a:t>
            </a:r>
          </a:p>
          <a:p>
            <a:r>
              <a:rPr lang="en-US" sz="2000" dirty="0"/>
              <a:t>Exceptional cases: unavailable books, invalid ID cards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Why This is Important:</a:t>
            </a:r>
            <a:endParaRPr lang="en-US" sz="2000" dirty="0"/>
          </a:p>
          <a:p>
            <a:r>
              <a:rPr lang="en-US" sz="2000" dirty="0"/>
              <a:t>Prevents missing critical defects</a:t>
            </a:r>
          </a:p>
          <a:p>
            <a:r>
              <a:rPr lang="en-US" sz="2000" dirty="0"/>
              <a:t>Ensures system behaves correctly in real-time usage</a:t>
            </a:r>
          </a:p>
          <a:p>
            <a:r>
              <a:rPr lang="en-US" sz="2000" dirty="0"/>
              <a:t>Improves reliability, stability, and quality of the system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9077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C506-2F7E-6577-7C17-A3D9A2B4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BASED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B674-9B69-04FC-3FCE-EA04A0DDD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48" y="1409075"/>
            <a:ext cx="10664252" cy="47678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Risk-based testing prioritizes testing based on the </a:t>
            </a:r>
            <a:r>
              <a:rPr lang="en-US" b="1" dirty="0"/>
              <a:t>risk and impact of failure</a:t>
            </a:r>
            <a:r>
              <a:rPr lang="en-US" dirty="0"/>
              <a:t> on business and users, ensuring critical features are tested first.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Risk-Based Testing</a:t>
            </a:r>
            <a:endParaRPr lang="en-US" dirty="0"/>
          </a:p>
          <a:p>
            <a:r>
              <a:rPr lang="en-US" dirty="0"/>
              <a:t>Limited testing resources (time and cost)</a:t>
            </a:r>
          </a:p>
          <a:p>
            <a:r>
              <a:rPr lang="en-US" dirty="0"/>
              <a:t>Different levels of importance for system features</a:t>
            </a:r>
          </a:p>
          <a:p>
            <a:pPr marL="0" indent="0">
              <a:buNone/>
            </a:pPr>
            <a:r>
              <a:rPr lang="en-US" b="1" dirty="0"/>
              <a:t>High-Risk Areas</a:t>
            </a:r>
            <a:endParaRPr lang="en-US" dirty="0"/>
          </a:p>
          <a:p>
            <a:r>
              <a:rPr lang="en-US" dirty="0"/>
              <a:t>Book issue and return transactions</a:t>
            </a:r>
          </a:p>
          <a:p>
            <a:r>
              <a:rPr lang="en-US" dirty="0"/>
              <a:t>Fine calculation logic</a:t>
            </a:r>
          </a:p>
          <a:p>
            <a:r>
              <a:rPr lang="en-US" dirty="0"/>
              <a:t>User authentication and authorization</a:t>
            </a:r>
          </a:p>
          <a:p>
            <a:r>
              <a:rPr lang="en-US" dirty="0"/>
              <a:t>Database updates during transactions</a:t>
            </a:r>
          </a:p>
          <a:p>
            <a:pPr marL="0" indent="0">
              <a:buNone/>
            </a:pPr>
            <a:r>
              <a:rPr lang="en-US" b="1" dirty="0"/>
              <a:t>Medium-Risk Areas</a:t>
            </a:r>
            <a:endParaRPr lang="en-US" dirty="0"/>
          </a:p>
          <a:p>
            <a:r>
              <a:rPr lang="en-US" dirty="0"/>
              <a:t>Book search functionality</a:t>
            </a:r>
          </a:p>
          <a:p>
            <a:r>
              <a:rPr lang="en-US" dirty="0"/>
              <a:t>Book renewal</a:t>
            </a:r>
          </a:p>
          <a:p>
            <a:r>
              <a:rPr lang="en-US" dirty="0"/>
              <a:t>Reports generation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807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AA58D-7D7C-3FDF-A791-982D4D5F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404734"/>
            <a:ext cx="11113957" cy="5772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Here If we pick one </a:t>
            </a:r>
            <a:r>
              <a:rPr lang="en-US" sz="2000" b="1" dirty="0" err="1"/>
              <a:t>ExamleExample</a:t>
            </a:r>
            <a:r>
              <a:rPr lang="en-US" sz="2000" b="1" dirty="0"/>
              <a:t>: Fine Calculation Logic: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Incorrect fine calculation may:</a:t>
            </a:r>
          </a:p>
          <a:p>
            <a:pPr lvl="1"/>
            <a:r>
              <a:rPr lang="en-US" sz="2000" dirty="0"/>
              <a:t>Charge users wrongly</a:t>
            </a:r>
          </a:p>
          <a:p>
            <a:pPr lvl="1"/>
            <a:r>
              <a:rPr lang="en-US" sz="2000" dirty="0"/>
              <a:t>Cause user dissatisfaction</a:t>
            </a:r>
          </a:p>
          <a:p>
            <a:pPr lvl="1"/>
            <a:r>
              <a:rPr lang="en-US" sz="2000" dirty="0"/>
              <a:t>Reduce trust in the system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Testing Focus for High-Risk Areas</a:t>
            </a:r>
            <a:endParaRPr lang="en-US" sz="2000" dirty="0"/>
          </a:p>
          <a:p>
            <a:r>
              <a:rPr lang="en-US" sz="2000" dirty="0"/>
              <a:t>Boundary value testing</a:t>
            </a:r>
          </a:p>
          <a:p>
            <a:r>
              <a:rPr lang="en-US" sz="2000" dirty="0"/>
              <a:t>Negative test scenarios</a:t>
            </a:r>
          </a:p>
          <a:p>
            <a:r>
              <a:rPr lang="en-US" sz="2000" dirty="0"/>
              <a:t>Multiple test data combinations</a:t>
            </a:r>
          </a:p>
          <a:p>
            <a:r>
              <a:rPr lang="en-US" sz="2000" b="1" dirty="0"/>
              <a:t>Conclusion</a:t>
            </a:r>
            <a:endParaRPr lang="en-US" sz="2000" dirty="0"/>
          </a:p>
          <a:p>
            <a:r>
              <a:rPr lang="en-US" sz="2000" dirty="0"/>
              <a:t>High-risk features are tested </a:t>
            </a:r>
            <a:r>
              <a:rPr lang="en-US" sz="2000" b="1" dirty="0"/>
              <a:t>first and thoroughly</a:t>
            </a:r>
            <a:r>
              <a:rPr lang="en-US" sz="2000" dirty="0"/>
              <a:t> to reduce system failure impact.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3654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4B35-B1E2-DCBB-9161-1FACA9214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Effective Testing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C6C7-D0F2-0653-0028-AA5A1EE6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046"/>
            <a:ext cx="10515600" cy="4722917"/>
          </a:xfrm>
        </p:spPr>
        <p:txBody>
          <a:bodyPr>
            <a:normAutofit/>
          </a:bodyPr>
          <a:lstStyle/>
          <a:p>
            <a:r>
              <a:rPr lang="en-US" sz="2000" dirty="0"/>
              <a:t>Test planning defines </a:t>
            </a:r>
            <a:r>
              <a:rPr lang="en-US" sz="2000" b="1" dirty="0"/>
              <a:t>what will be tested, how it will be tested, and when it will be tested</a:t>
            </a:r>
            <a:r>
              <a:rPr lang="en-US" sz="2000" dirty="0"/>
              <a:t> before actual testing begins.</a:t>
            </a:r>
          </a:p>
          <a:p>
            <a:pPr marL="0" indent="0">
              <a:buNone/>
            </a:pPr>
            <a:r>
              <a:rPr lang="en-US" sz="2000" b="1" dirty="0"/>
              <a:t>Testing Objectives</a:t>
            </a:r>
            <a:endParaRPr lang="en-US" sz="2000" dirty="0"/>
          </a:p>
          <a:p>
            <a:r>
              <a:rPr lang="en-US" sz="2000" dirty="0"/>
              <a:t>Ensure the library system works </a:t>
            </a:r>
            <a:r>
              <a:rPr lang="en-US" sz="2000" b="1" dirty="0"/>
              <a:t>accurately, reliably, and error-free</a:t>
            </a:r>
            <a:endParaRPr lang="en-US" sz="2000" dirty="0"/>
          </a:p>
          <a:p>
            <a:r>
              <a:rPr lang="en-US" sz="2000" dirty="0"/>
              <a:t>Validate correct management of books and users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Test Scope</a:t>
            </a:r>
            <a:endParaRPr lang="en-US" sz="2000" dirty="0"/>
          </a:p>
          <a:p>
            <a:r>
              <a:rPr lang="en-US" sz="2000" dirty="0"/>
              <a:t>Book creation, issue, and return</a:t>
            </a:r>
          </a:p>
          <a:p>
            <a:r>
              <a:rPr lang="en-US" sz="2000" dirty="0"/>
              <a:t>Book availability status</a:t>
            </a:r>
          </a:p>
          <a:p>
            <a:r>
              <a:rPr lang="en-US" sz="2000" dirty="0"/>
              <a:t>User actions and validations</a:t>
            </a:r>
          </a:p>
          <a:p>
            <a:r>
              <a:rPr lang="en-US" sz="2000" dirty="0"/>
              <a:t>Error and exception scenarios</a:t>
            </a:r>
          </a:p>
          <a:p>
            <a:r>
              <a:rPr lang="en-US" sz="2000" i="1" dirty="0"/>
              <a:t>(Out-of-scope items defined to avoid unnecessary testing)</a:t>
            </a: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1429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1B356-678B-2C20-B7DF-E3093598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97" y="434715"/>
            <a:ext cx="10739203" cy="5742248"/>
          </a:xfrm>
        </p:spPr>
        <p:txBody>
          <a:bodyPr>
            <a:normAutofit/>
          </a:bodyPr>
          <a:lstStyle/>
          <a:p>
            <a:r>
              <a:rPr lang="en-US" sz="2000" b="1" dirty="0"/>
              <a:t>Test Strategy</a:t>
            </a:r>
            <a:endParaRPr lang="en-US" sz="2000" dirty="0"/>
          </a:p>
          <a:p>
            <a:r>
              <a:rPr lang="en-US" sz="2000" dirty="0"/>
              <a:t>Manual testing for basic flows</a:t>
            </a:r>
          </a:p>
          <a:p>
            <a:r>
              <a:rPr lang="en-US" sz="2000" dirty="0"/>
              <a:t>Automated testing for repeated actions</a:t>
            </a:r>
          </a:p>
          <a:p>
            <a:r>
              <a:rPr lang="en-US" sz="2000" dirty="0"/>
              <a:t>Use of tools like </a:t>
            </a:r>
            <a:r>
              <a:rPr lang="en-US" sz="2000" b="1" dirty="0" err="1"/>
              <a:t>pytest</a:t>
            </a:r>
            <a:r>
              <a:rPr lang="en-US" sz="2000" dirty="0"/>
              <a:t> for automation</a:t>
            </a:r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Test Environment &amp; Data</a:t>
            </a:r>
            <a:endParaRPr lang="en-US" sz="2000" dirty="0"/>
          </a:p>
          <a:p>
            <a:r>
              <a:rPr lang="en-US" sz="2000" dirty="0"/>
              <a:t>Defined hardware/software setup</a:t>
            </a:r>
          </a:p>
          <a:p>
            <a:r>
              <a:rPr lang="en-US" sz="2000" dirty="0"/>
              <a:t>Python version and database/file system</a:t>
            </a:r>
          </a:p>
          <a:p>
            <a:r>
              <a:rPr lang="en-US" sz="2000" dirty="0"/>
              <a:t>Valid, invalid, duplicate, and boundary test data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70671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4474-63D9-1892-CD1D-6847EB31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Execution &amp; Monitoring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768E-4A8A-F1EE-96E5-8BD65ED55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77"/>
            <a:ext cx="10515600" cy="46179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Test execution is the process of running planned test cases and monitoring results to ensure the system behaves as expected.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Execution Activities</a:t>
            </a:r>
            <a:endParaRPr lang="en-US" dirty="0"/>
          </a:p>
          <a:p>
            <a:r>
              <a:rPr lang="en-US" dirty="0"/>
              <a:t>Execute test cases for all library functions</a:t>
            </a:r>
          </a:p>
          <a:p>
            <a:r>
              <a:rPr lang="en-US" dirty="0"/>
              <a:t>Validate actual results against expected results</a:t>
            </a:r>
          </a:p>
          <a:p>
            <a:r>
              <a:rPr lang="en-US" dirty="0"/>
              <a:t>Log defects with proper details</a:t>
            </a:r>
          </a:p>
          <a:p>
            <a:r>
              <a:rPr lang="en-US" dirty="0"/>
              <a:t>Retest after defect fixes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Monitoring</a:t>
            </a:r>
            <a:endParaRPr lang="en-US" dirty="0"/>
          </a:p>
          <a:p>
            <a:r>
              <a:rPr lang="en-US" dirty="0"/>
              <a:t>Track test progress and pass/fail status</a:t>
            </a:r>
          </a:p>
          <a:p>
            <a:r>
              <a:rPr lang="en-US" dirty="0"/>
              <a:t>Identify high-defect areas</a:t>
            </a:r>
          </a:p>
          <a:p>
            <a:r>
              <a:rPr lang="en-US" dirty="0"/>
              <a:t>Adjust testing focus if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799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2031-8FEF-599C-CE58-D5197543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 Improvement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7A7C-391D-CCED-C168-2B227001B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Continuous improvement focuses on enhancing the testing process based on results, defects, and feedback.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Improvement Activities</a:t>
            </a:r>
            <a:endParaRPr lang="en-US" dirty="0"/>
          </a:p>
          <a:p>
            <a:r>
              <a:rPr lang="en-US" dirty="0"/>
              <a:t>Analyze defects and root causes</a:t>
            </a:r>
          </a:p>
          <a:p>
            <a:r>
              <a:rPr lang="en-US" dirty="0"/>
              <a:t>Update test cases and scenarios</a:t>
            </a:r>
          </a:p>
          <a:p>
            <a:r>
              <a:rPr lang="en-US" dirty="0"/>
              <a:t>Improve test coverage for weak areas</a:t>
            </a:r>
          </a:p>
          <a:p>
            <a:r>
              <a:rPr lang="en-US" dirty="0"/>
              <a:t>Refine testing strategy for future cycles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Benefits</a:t>
            </a:r>
            <a:endParaRPr lang="en-US" dirty="0"/>
          </a:p>
          <a:p>
            <a:r>
              <a:rPr lang="en-US" dirty="0"/>
              <a:t>Reduces repeated defects</a:t>
            </a:r>
          </a:p>
          <a:p>
            <a:r>
              <a:rPr lang="en-US" dirty="0"/>
              <a:t>Improves test effectiveness over time</a:t>
            </a:r>
          </a:p>
          <a:p>
            <a:r>
              <a:rPr lang="en-US" dirty="0"/>
              <a:t>Increases system quality and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092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822</Words>
  <Application>Microsoft Office PowerPoint</Application>
  <PresentationFormat>Widescreen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Library Management System</vt:lpstr>
      <vt:lpstr>Group 4</vt:lpstr>
      <vt:lpstr>Effectiveness Testing</vt:lpstr>
      <vt:lpstr>PowerPoint Presentation</vt:lpstr>
      <vt:lpstr>Requirements</vt:lpstr>
      <vt:lpstr>Functional Requirements</vt:lpstr>
      <vt:lpstr>NON Functional Requirements</vt:lpstr>
      <vt:lpstr>Comprehensive Test Coverage</vt:lpstr>
      <vt:lpstr>RISK BASED APPROACH</vt:lpstr>
      <vt:lpstr>PowerPoint Presentation</vt:lpstr>
      <vt:lpstr>Effective Testing Design</vt:lpstr>
      <vt:lpstr>PowerPoint Presentation</vt:lpstr>
      <vt:lpstr>Test Execution &amp; Monitoring</vt:lpstr>
      <vt:lpstr>Continuous Improvement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chava kethan chowdary</dc:creator>
  <cp:lastModifiedBy>chava kethan chowdary</cp:lastModifiedBy>
  <cp:revision>1</cp:revision>
  <dcterms:created xsi:type="dcterms:W3CDTF">2026-01-02T11:02:52Z</dcterms:created>
  <dcterms:modified xsi:type="dcterms:W3CDTF">2026-01-02T11:39:59Z</dcterms:modified>
</cp:coreProperties>
</file>